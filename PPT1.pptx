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jggkKvaJIux69yKuNEwtWUG0Y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bold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F4EF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52500" y="4470945"/>
            <a:ext cx="571500" cy="38100"/>
          </a:xfrm>
          <a:prstGeom prst="rect">
            <a:avLst/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001000" y="1524000"/>
            <a:ext cx="3810000" cy="3810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D6A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477250" y="200025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52500" y="1453604"/>
            <a:ext cx="7143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7C8D"/>
                </a:solidFill>
                <a:latin typeface="Montserrat"/>
                <a:ea typeface="Montserrat"/>
                <a:cs typeface="Montserrat"/>
                <a:sym typeface="Montserrat"/>
              </a:rPr>
              <a:t>PROYECTO DE DIGITALIZACIÓN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52500" y="1863179"/>
            <a:ext cx="610076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Sistema de Gestión Integral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52500" y="3356520"/>
            <a:ext cx="750093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Deva Aesthetic House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52500" y="4890045"/>
            <a:ext cx="7143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2328"/>
                </a:solidFill>
                <a:latin typeface="Montserrat"/>
                <a:ea typeface="Montserrat"/>
                <a:cs typeface="Montserrat"/>
                <a:sym typeface="Montserrat"/>
              </a:rPr>
              <a:t>Primera Presentación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52500" y="5194845"/>
            <a:ext cx="7143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Equipo de Desarrollo: Thomas Barrios y Demis Diaz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3062" y="2857500"/>
            <a:ext cx="12858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7406580" y="2047875"/>
            <a:ext cx="4023419" cy="1876425"/>
          </a:xfrm>
          <a:prstGeom prst="roundRect">
            <a:avLst>
              <a:gd fmla="val 8121" name="adj"/>
            </a:avLst>
          </a:prstGeom>
          <a:solidFill>
            <a:srgbClr val="F4EF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406580" y="4152900"/>
            <a:ext cx="4023419" cy="1876425"/>
          </a:xfrm>
          <a:prstGeom prst="roundRect">
            <a:avLst>
              <a:gd fmla="val 8121" name="adj"/>
            </a:avLst>
          </a:prstGeom>
          <a:solidFill>
            <a:srgbClr val="F4EF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1195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690" y="41195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48151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762000" y="762000"/>
            <a:ext cx="1143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Conociendo a nuestro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62000" y="1981200"/>
            <a:ext cx="792091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Kinesiología y Medicina Estética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62000" y="2486025"/>
            <a:ext cx="61302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Centro enfocado en kinesiología dermatofuncional. La prioridad absoluta es el bienestar, trabajando unidos para sumar conocimientos y cuidar al paciente.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62000" y="3648075"/>
            <a:ext cx="792091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Tratamientos Destacados: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379903" y="2428875"/>
            <a:ext cx="4076774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379903" y="3314700"/>
            <a:ext cx="40767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2328"/>
                </a:solidFill>
                <a:latin typeface="Montserrat"/>
                <a:ea typeface="Montserrat"/>
                <a:cs typeface="Montserrat"/>
                <a:sym typeface="Montserrat"/>
              </a:rPr>
              <a:t>Profesionales activos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7379903" y="4533900"/>
            <a:ext cx="4076774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379903" y="5419725"/>
            <a:ext cx="40767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2328"/>
                </a:solidFill>
                <a:latin typeface="Montserrat"/>
                <a:ea typeface="Montserrat"/>
                <a:cs typeface="Montserrat"/>
                <a:sym typeface="Montserrat"/>
              </a:rPr>
              <a:t>Boxes de atención física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028700" y="4105275"/>
            <a:ext cx="3409912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Estética facial y corporal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122390" y="4105275"/>
            <a:ext cx="3409912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Depilación láser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28750" y="4467225"/>
            <a:ext cx="34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Cuidados postoperatorios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762000" y="1981200"/>
            <a:ext cx="3352800" cy="4114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419600" y="1981200"/>
            <a:ext cx="3352800" cy="4114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077200" y="1981200"/>
            <a:ext cx="3352800" cy="4114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438400"/>
            <a:ext cx="27432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2438400"/>
            <a:ext cx="27432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2438400"/>
            <a:ext cx="2743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-285750" y="762000"/>
            <a:ext cx="1276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Cuello de Botella Operativo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066800" y="3048000"/>
            <a:ext cx="360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Procesos Desconectados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1066800" y="350520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La clínica opera con agendamiento, fichas clínicas y registro de ventas totalmente aislados entre sí.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724400" y="3048000"/>
            <a:ext cx="360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Herramientas Manuales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4724400" y="350520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Existe una alta y riesgosa dependencia de planillas de Excel y registros médicos almacenados en papel.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8382000" y="3048000"/>
            <a:ext cx="360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Impacto Gerencial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382000" y="350520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Fuerte carga administrativa, pérdida de tiempo y métricas descentralizadas que dificultan la toma de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23361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1473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9958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0250" y="24622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9300" y="38433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8350" y="52244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762000" y="762000"/>
            <a:ext cx="1143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Solución Tecnológica Integral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2876550" y="2233612"/>
            <a:ext cx="9315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Plataforma Única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2876550" y="2700337"/>
            <a:ext cx="7600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Desarrollo de un sistema web escalable que digitalice por completo la operación administrativa diaria.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2876550" y="3614737"/>
            <a:ext cx="9315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Módulos Centralizados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2876550" y="4081462"/>
            <a:ext cx="7600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Sustitución definitiva de los registros físicos y los múltiples archivos dispersos por módulos interconectados.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2876550" y="4995862"/>
            <a:ext cx="9315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Flujo Adaptado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2876550" y="5462587"/>
            <a:ext cx="7600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Provisión de un ecosistema adaptado al flujo real de la clínica para reducir drásticamente el margen de error humano.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5395019" y="741461"/>
            <a:ext cx="6034980" cy="1748432"/>
          </a:xfrm>
          <a:prstGeom prst="roundRect">
            <a:avLst>
              <a:gd fmla="val 435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395019" y="2794694"/>
            <a:ext cx="6034980" cy="1508521"/>
          </a:xfrm>
          <a:prstGeom prst="roundRect">
            <a:avLst>
              <a:gd fmla="val 50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395019" y="4608016"/>
            <a:ext cx="6034980" cy="1508521"/>
          </a:xfrm>
          <a:prstGeom prst="roundRect">
            <a:avLst>
              <a:gd fmla="val 50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395019" y="741461"/>
            <a:ext cx="57150" cy="1748432"/>
          </a:xfrm>
          <a:prstGeom prst="rect">
            <a:avLst/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395019" y="2794694"/>
            <a:ext cx="57150" cy="1508521"/>
          </a:xfrm>
          <a:prstGeom prst="rect">
            <a:avLst/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395019" y="4608016"/>
            <a:ext cx="57150" cy="1508521"/>
          </a:xfrm>
          <a:prstGeom prst="rect">
            <a:avLst/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62000" y="2337494"/>
            <a:ext cx="432460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Requisitos Funcionales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62000" y="3663255"/>
            <a:ext cx="411866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El núcleo operativo del proyecto, priorizado para resolver las urgencias inmediatas de la clínica.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5756969" y="1046261"/>
            <a:ext cx="64350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Ficha Electrónica Inmutable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5756969" y="1465361"/>
            <a:ext cx="546348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Registro de historial clínico y firma digital de consentimiento informado. Estructurado en texto, excluyendo almacenamiento de imágenes.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5756969" y="3099494"/>
            <a:ext cx="64350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Agenda Interna Inteligente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5756969" y="3518594"/>
            <a:ext cx="546348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Gestión de disponibilidad cruzada e interconectada entre los 4 profesionales y los 3 boxes de atención física.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756969" y="4912816"/>
            <a:ext cx="64350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Automatización de Comisiones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756969" y="5331916"/>
            <a:ext cx="546348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Algoritmo de cálculo automático del porcentaje de pago al profesional al momento de registrar cada nueva venta.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75" y="25949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9288" y="3231562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9949" y="26164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5000" y="28425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4088" y="347921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9024" y="2864124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-285750" y="762000"/>
            <a:ext cx="1276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Funcionalidades de Alto Impacto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138129" y="3852200"/>
            <a:ext cx="4333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Fidelización (CRM)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241318" y="4337975"/>
            <a:ext cx="412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Envío automático de recordatorios de citas vía WhatsApp o correo electrónico el día anterior a la sesión.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3948641" y="4488862"/>
            <a:ext cx="4333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Gestión Contable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4051831" y="4974637"/>
            <a:ext cx="412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Exportación rápida de datos y reportes financieros a formato Excel para facilitar la labor mensual del contador.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7759303" y="3873775"/>
            <a:ext cx="4333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Logística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7862493" y="4359550"/>
            <a:ext cx="412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Módulo de inventario simplificado para solucionar el desorden de stock de los productos destinados a la venta.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1809750" y="1981200"/>
            <a:ext cx="8572500" cy="14097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9525">
            <a:solidFill>
              <a:srgbClr val="F4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809750" y="3619500"/>
            <a:ext cx="8572500" cy="14097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9525">
            <a:solidFill>
              <a:srgbClr val="F4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809750" y="5257800"/>
            <a:ext cx="8572500" cy="140970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9525">
            <a:solidFill>
              <a:srgbClr val="F4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6475" y="2533650"/>
            <a:ext cx="23380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6475" y="41719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6475" y="58102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-285750" y="762000"/>
            <a:ext cx="1276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Definición y Límites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2815083" y="2295525"/>
            <a:ext cx="9319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 </a:t>
            </a:r>
            <a:r>
              <a:rPr b="1" lang="en-US" sz="1650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auto agendamiento</a:t>
            </a:r>
            <a:r>
              <a:rPr b="1" i="0" lang="en-US" sz="165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pacientes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2815083" y="2657475"/>
            <a:ext cx="719569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Bloqueado por reglas de negocio para evitar errores en la selección de tratamientos y orden de las sesiones.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2809875" y="3933825"/>
            <a:ext cx="93261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Sin integración con el SII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2809875" y="4295775"/>
            <a:ext cx="720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La emisión de boletas y documentos tributarios ya está cubierta operativamente por un terminal de pago externo.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2847975" y="5572125"/>
            <a:ext cx="927615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Inicio Limpio de 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2847975" y="5934075"/>
            <a:ext cx="716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No habrá migración de datos desde su Excel actual; la estructura relacional iniciará desde cero para evitar corrupción.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5250" y="21336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21336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3749" y="21336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8150" y="24765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4765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55224" y="24765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/>
          <p:nvPr/>
        </p:nvSpPr>
        <p:spPr>
          <a:xfrm>
            <a:off x="-285750" y="762000"/>
            <a:ext cx="1276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Estructura y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042838" y="3581400"/>
            <a:ext cx="258782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Baja Concurrencia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368293" y="4038600"/>
            <a:ext cx="393706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Arquitectura backend optimizada específicamente para soportar la carga operativa de 1 a 2 usuarios de forma simultánea.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4858345" y="3581400"/>
            <a:ext cx="24753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Perfiles de Acceso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4127543" y="4038600"/>
            <a:ext cx="3937062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Rol "Gerencial" con acceso a finanzas y métricas, y roles "Profesionales" limitados estrictamente a agenda y fichas clínicas.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8367563" y="3581400"/>
            <a:ext cx="29753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Integridad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7886793" y="4038600"/>
            <a:ext cx="393706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Diseño de base de datos relacional para cruzar entidades complejas y evitar información duplicada o pagos erróneos.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762000" y="2628900"/>
            <a:ext cx="10668000" cy="38100"/>
          </a:xfrm>
          <a:prstGeom prst="rect">
            <a:avLst/>
          </a:prstGeom>
          <a:solidFill>
            <a:srgbClr val="D6AE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762000" y="762000"/>
            <a:ext cx="1143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B87C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Inicio del Desarrollo (Sprint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62000" y="2362200"/>
            <a:ext cx="571500" cy="571500"/>
          </a:xfrm>
          <a:prstGeom prst="roundRect">
            <a:avLst>
              <a:gd fmla="val 50000" name="adj"/>
            </a:avLst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445049" y="2362200"/>
            <a:ext cx="571500" cy="571500"/>
          </a:xfrm>
          <a:prstGeom prst="roundRect">
            <a:avLst>
              <a:gd fmla="val 50000" name="adj"/>
            </a:avLst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8128099" y="2362200"/>
            <a:ext cx="571500" cy="571500"/>
          </a:xfrm>
          <a:prstGeom prst="roundRect">
            <a:avLst>
              <a:gd fmla="val 50000" name="adj"/>
            </a:avLst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19125" y="23622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762000" y="3162300"/>
            <a:ext cx="43339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Product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762000" y="3619500"/>
            <a:ext cx="33972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Traducción formal de todos los requisitos validados en la reunión a Historias de Usuario técnicas para Jira.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4302174" y="23622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4445049" y="3162300"/>
            <a:ext cx="43339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4445049" y="3619500"/>
            <a:ext cx="33972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Diseño del Modelo Entidad-Relación (MER) para estructurar y normalizar las tablas de la base de datos inicial.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7985224" y="23622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8128099" y="3162300"/>
            <a:ext cx="406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232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Prototipos Visuales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8128099" y="3619500"/>
            <a:ext cx="33972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C5356"/>
                </a:solidFill>
                <a:latin typeface="Montserrat"/>
                <a:ea typeface="Montserrat"/>
                <a:cs typeface="Montserrat"/>
                <a:sym typeface="Montserrat"/>
              </a:rPr>
              <a:t>Creación de maquetas de interfaz (UI/UX) para que el cliente valide el flujo del sistema mediante una demostración en vivo.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2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4167187" y="5319712"/>
            <a:ext cx="3857625" cy="514350"/>
          </a:xfrm>
          <a:prstGeom prst="roundRect">
            <a:avLst>
              <a:gd fmla="val 50000" name="adj"/>
            </a:avLst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715000" y="3443287"/>
            <a:ext cx="762000" cy="19050"/>
          </a:xfrm>
          <a:prstGeom prst="rect">
            <a:avLst/>
          </a:prstGeom>
          <a:solidFill>
            <a:srgbClr val="B87C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2183010" y="1023937"/>
            <a:ext cx="782597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4142184" y="5472112"/>
            <a:ext cx="390763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738187" y="2195512"/>
            <a:ext cx="10715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DFBFB"/>
                </a:solidFill>
                <a:latin typeface="Montserrat"/>
                <a:ea typeface="Montserrat"/>
                <a:cs typeface="Montserrat"/>
                <a:sym typeface="Montserrat"/>
              </a:rPr>
              <a:t>Este sistema de gestión resolverá las ineficiencias críticas de Deva Aesthetic House, eliminando por completo la riesgosa dependencia del papel y los cálculos manuales.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738187" y="3767137"/>
            <a:ext cx="10715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D6AEBB"/>
                </a:solidFill>
                <a:latin typeface="Montserrat"/>
                <a:ea typeface="Montserrat"/>
                <a:cs typeface="Montserrat"/>
                <a:sym typeface="Montserrat"/>
              </a:rPr>
              <a:t>Con el levantamiento de requisitos validado, el equipo cuenta con una hoja de ruta clara, un alcance realista y las definiciones arquitectónicas necesarias para iniciar la programación.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