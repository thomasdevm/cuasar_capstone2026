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avance de Fase 1. Estructura: 1) contexto y problema, 2) arquitectura, 3) TRL, 4) metodología. Objetivo: que el docente revise si las decisiones son adecuadas.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entregadas por la clienta en la reunión 1: unos 20 pacientes diarios, 4 profesionales (2 por turnos) y 3 salas.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necesidad no es solo una agenda digital: es integrar los procesos para reducir trabajo administrativo y errores, mejorar el seguimiento y la fidelización, y facilitar la gestión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decisiones salen de la transcripción de la reunión 1 y están reflejadas en las historias de usuario de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Flujo: Usuario → Frontend (React) → API REST → Backend (Node/Express) → PostgreSQL. El backend se conecta a WhatsApp Business Cloud API y correo para los recordatorios, y a un almacenamiento de archivos para firmas y PDF. El sistema de boletas y el sitio web no se integran por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tecnología se eligió por la escala del proyecto (1–2 usuarios), el equipo pequeño y la necesidad de un solo lenguaje en front y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Seguridad: HTTPS, JWT, roles, auditoría de accesos a fichas y respaldo diario. Pendiente: link del sitio web para decidir cómo integrarlo.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estándar NASA / Comisión Europea. TRL 8 y 9 requieren operación sostenida, fuera del plazo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TRL 7 no se compromete porque depende de la autorización de la directora y del cumplimiento de privacidad de datos de salud.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adoptan además prácticas de XP: integración continua, revisión de código y pruebas automáticas de la lógica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ya existe en Jira (proyecto SCRUM) con sprints, metas y fechas; el Sprint 0 está cerrado.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se pide retroalimentación del docente sobre las tres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PROYECTO · FASE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Deva Aesthetic House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4C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Integral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  ·  Arquitectura  ·  TRL  ·  Metodología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Capstone · Equipo del Proyecto APT ·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un centro que creció más rápido que sus herramientas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 Aesthetic House: kinesiología dermatofuncional y medicina estética en Linderos, Buin, dirigida por Sandra Sánchez.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profesional, personalizada y cercana, desde la evaluación hasta el seguimiento del tratamiento.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en servicios y pacientes dejó a la gestión apoyada en papel, planillas y mensajes manuales.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es la única decisora y será la Product Owner del proyecto.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75120" y="155448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1228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por día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235440" y="155448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72600" y="1737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(2 con turnos)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379476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4937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de atención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0" y="3794760"/>
            <a:ext cx="2377440" cy="2057400"/>
          </a:xfrm>
          <a:prstGeom prst="roundRect">
            <a:avLst>
              <a:gd name="adj" fmla="val 5333"/>
            </a:avLst>
          </a:prstGeom>
          <a:solidFill>
            <a:srgbClr val="EDE1F3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4937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sin conexión: papel, agenda, Excel y mensajes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información dispersa y trabajo manual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Demostramos el problema antes de proponer la solución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hoy?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clínica en papel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no conectada a la ficha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manuales por WhatsApp o correo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comisiones en Excel, con cálculo manual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productos sin control claro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 quién afecta?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Dirección: sin visión consolidada del negocio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Profesionales: sin registro propio de atenciones ni comisión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Pacientes: seguimiento tardío y consentimientos en papel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Contador: recibe el Excel una vez al 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EDE1F3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necesita?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clínica electrónica con consentimiento digital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por profesional, box y plan de sesiones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alertas automáticas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comisiones calculadas por el sistema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simple y exportación a Excel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5B2A6F"/>
          </a:solidFill>
          <a:ln w="12700">
            <a:solidFill>
              <a:srgbClr val="5B2A6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Dicho por la clienta: “lo más urgente es la ficha clínica”. Los tiempos perdidos y los errores crecen con cada paciente nuevo.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aprendimos con la clienta moldea 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1: decisiones que reducen el alcance y orientan la arquitectura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primero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módulo más urgente; sin imágenes por ahora.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del personal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no se autoagenda para no perder el conteo de sesiones.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874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integrar boletas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pago actual funciona; solo se registra la venta.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desde cero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migra el Excel; pacientes nuevos desde el inicio.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Comisión por porcentaje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servicio × % del profesional; hoy se calcula a mano.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usuarios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baja: monolito simple; avances con demo en vivo.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74320"/>
            <a:ext cx="11000232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tecnologías y su función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94560" cy="640080"/>
          </a:xfrm>
          <a:prstGeom prst="chevron">
            <a:avLst/>
          </a:prstGeom>
          <a:solidFill>
            <a:srgbClr val="B673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8920" y="1234440"/>
            <a:ext cx="2194560" cy="640080"/>
          </a:xfrm>
          <a:prstGeom prst="chevron">
            <a:avLst/>
          </a:prstGeom>
          <a:solidFill>
            <a:srgbClr val="5B2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234440"/>
            <a:ext cx="2194560" cy="640080"/>
          </a:xfrm>
          <a:prstGeom prst="chevron">
            <a:avLst/>
          </a:prstGeom>
          <a:solidFill>
            <a:srgbClr val="5B2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234440"/>
            <a:ext cx="2194560" cy="640080"/>
          </a:xfrm>
          <a:prstGeom prst="chevron">
            <a:avLst/>
          </a:prstGeom>
          <a:solidFill>
            <a:srgbClr val="5B2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4380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509760" y="1234440"/>
            <a:ext cx="2194560" cy="640080"/>
          </a:xfrm>
          <a:prstGeom prst="chevron">
            <a:avLst/>
          </a:prstGeom>
          <a:solidFill>
            <a:srgbClr val="4C9A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56616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6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 + Vite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Pantallas de ficha, agenda, ventas y panel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Reutiliza el prototipo y el diseño de marca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REST/JSON, JWT, Zod, OpenAPI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entre frontend y backend con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de probar y documentar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 + Prisma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negocio, comisiones, notificaciones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lenguaje que el 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+ almacenamiento 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relacionales, firmas y PDF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 para ventas y comisiones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externos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Cloud API y correo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Recordatorios y alertas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Canales que el centro ya usa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GitHub Actions, Jira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Despliegue, CI y seguimiento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historia →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esta arquitectura y no otra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evaluadas y motivo de la decisión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Web, no escritorio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instalación, datos centralizados y firma en tablet. Se enlazará desde el sitio actual.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app por computador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Monolito modular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77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usuarios y ~20 pacientes diarios no justifican microservicios.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microservicios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Citas, ventas y comisiones son muy relacionales y exigen integridad.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MongoDB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API + correo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663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el recordatorio; si el costo no se aprueba, correo y enlace wa.me.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definido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TRL: dónde estamos y hasta dónde llegaremos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Level (escala 1 a 9)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92040" y="4709160"/>
            <a:ext cx="713232" cy="868680"/>
          </a:xfrm>
          <a:prstGeom prst="rect">
            <a:avLst/>
          </a:prstGeom>
          <a:solidFill>
            <a:srgbClr val="E6D7EC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92040" y="48006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50992" y="4343400"/>
            <a:ext cx="713232" cy="1234440"/>
          </a:xfrm>
          <a:prstGeom prst="rect">
            <a:avLst/>
          </a:prstGeom>
          <a:solidFill>
            <a:srgbClr val="E6D7EC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50992" y="44348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632704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9944" y="3977640"/>
            <a:ext cx="713232" cy="1600200"/>
          </a:xfrm>
          <a:prstGeom prst="rect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40690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91656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68896" y="3611880"/>
            <a:ext cx="713232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68896" y="37033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en laboratorio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27848" y="3246120"/>
            <a:ext cx="713232" cy="233172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48" y="33375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en entorno relevante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2880360"/>
            <a:ext cx="713232" cy="2697480"/>
          </a:xfrm>
          <a:prstGeom prst="rect">
            <a:avLst/>
          </a:prstGeom>
          <a:solidFill>
            <a:srgbClr val="5B2A6F"/>
          </a:solidFill>
          <a:ln w="12700">
            <a:solidFill>
              <a:srgbClr val="5B2A6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0" y="29718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entorno relevante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45752" y="2514600"/>
            <a:ext cx="713232" cy="3063240"/>
          </a:xfrm>
          <a:prstGeom prst="rect">
            <a:avLst/>
          </a:prstGeom>
          <a:solidFill>
            <a:srgbClr val="EDE1F3"/>
          </a:solidFill>
          <a:ln w="25400">
            <a:solidFill>
              <a:srgbClr val="8E4A9E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445752" y="26060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entorno operativo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04704" y="2148840"/>
            <a:ext cx="713232" cy="34290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04704" y="2240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0186416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calificado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63656" y="1783080"/>
            <a:ext cx="713232" cy="37947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963656" y="18745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945368" y="5650992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operación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160020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1691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TRL 3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interfaz con datos simulados y requisitos validados.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30632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5B2A6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TRL 6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demostrado en staging con escenarios reales de la clienta.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5262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617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E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AMPLIADA: TRL 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pacientes nuevos, si se cumple privacidad y respaldo.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 del TRL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se sostiene con evidencia verificable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673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hoy es TRL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validados con la clienta (reunión 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login, ficha, agenda y panel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login simulados; sin base de datos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integración ni pruebas automáticas aún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2926080"/>
          </a:xfrm>
          <a:prstGeom prst="roundRect">
            <a:avLst>
              <a:gd name="adj" fmla="val 3750"/>
            </a:avLst>
          </a:prstGeom>
          <a:solidFill>
            <a:srgbClr val="EDE1F3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llegaremos a TRL 6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que replica el centro: 3 boxes, 4 profesionales, ~20 citas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clienta ejecuta sus escenarios reales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conciliadas con su Excel de un 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respaldo y auditoría activos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937760"/>
            <a:ext cx="2194560" cy="731520"/>
          </a:xfrm>
          <a:prstGeom prst="chevron">
            <a:avLst/>
          </a:prstGeom>
          <a:solidFill>
            <a:srgbClr val="B673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937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→ TRL 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4937760"/>
            <a:ext cx="2194560" cy="731520"/>
          </a:xfrm>
          <a:prstGeom prst="chevron">
            <a:avLst/>
          </a:prstGeom>
          <a:solidFill>
            <a:srgbClr val="B673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4937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→ 4–5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4937760"/>
            <a:ext cx="2194560" cy="731520"/>
          </a:xfrm>
          <a:prstGeom prst="chevron">
            <a:avLst/>
          </a:prstGeom>
          <a:solidFill>
            <a:srgbClr val="B6738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4937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→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4937760"/>
            <a:ext cx="2194560" cy="731520"/>
          </a:xfrm>
          <a:prstGeom prst="chevron">
            <a:avLst/>
          </a:prstGeom>
          <a:solidFill>
            <a:srgbClr val="5B2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4937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→ 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9760" y="4937760"/>
            <a:ext cx="2194560" cy="731520"/>
          </a:xfrm>
          <a:prstGeom prst="chevron">
            <a:avLst/>
          </a:prstGeom>
          <a:solidFill>
            <a:srgbClr val="5B2A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0" y="4937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→ 6 (7)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maduración por sprint, con una demo verificable al cierre de cada uno.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Scrum en sprints de 2 semanas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Elegida entre Cascada, Kanban, XP y Scrumban (Scrum: 123 de 130 puntos)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y Sprint Backlog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35808" y="2148840"/>
            <a:ext cx="274320" cy="320040"/>
          </a:xfrm>
          <a:prstGeom prst="rightArrow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6459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+ Daily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pruebas y CI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24728" y="2148840"/>
            <a:ext cx="274320" cy="320040"/>
          </a:xfrm>
          <a:prstGeom prst="rightArrow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6459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5B2A6F"/>
          </a:solidFill>
          <a:ln w="12700">
            <a:solidFill>
              <a:srgbClr val="5B2A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(demo)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Sandra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13648" y="2148840"/>
            <a:ext cx="274320" cy="320040"/>
          </a:xfrm>
          <a:prstGeom prst="rightArrow">
            <a:avLst/>
          </a:prstGeom>
          <a:solidFill>
            <a:srgbClr val="B67389"/>
          </a:solidFill>
          <a:ln w="12700">
            <a:solidFill>
              <a:srgbClr val="B6738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164592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del proceso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la aplicamos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9319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Owner: Sandra Sánchez (prioriza y acepta)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y equipo de desarrollo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6 epics, 23 historias, 7 tareas técnicas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PR con revisión y CI en verde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común y estimación con puntos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333756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EDE1F3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Scrum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9319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aún se descubren: se replanifica por sprint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clienta está disponible y prefiere ver demos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valor primero donde más duele: la ficha clínica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evidencias por sprint para la evaluación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sprints y avance en Jira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puntos de historia planificados hasta el 18 de diciembre de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EDE1F3"/>
          </a:solidFill>
          <a:ln w="12700">
            <a:solidFill>
              <a:srgbClr val="8E4A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13-10 → 26-10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clínica, consentimiento, login y base técnica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pts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27-10 → 09-11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planes de sesiones y recordatorios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pts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 → 23-11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comisiones, roles y alertas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pts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9480" y="16459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24-11 → 07-12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exportación, stock y auditoría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pts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2103120" cy="2926080"/>
          </a:xfrm>
          <a:prstGeom prst="roundRect">
            <a:avLst>
              <a:gd name="adj" fmla="val 5217"/>
            </a:avLst>
          </a:prstGeom>
          <a:solidFill>
            <a:srgbClr val="F8F3F5"/>
          </a:solidFill>
          <a:ln w="12700">
            <a:solidFill>
              <a:srgbClr val="E6D7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469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5B2A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5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6469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67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09-12 → 18-12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26974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Aceptación, capacitación y despliegue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E4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pts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5B2A6F"/>
          </a:solidFill>
          <a:ln w="12700">
            <a:solidFill>
              <a:srgbClr val="5B2A6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identificado: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sprints 1 y 2 superan los ~24 puntos. Recalibraremos la velocidad al cierre del Sprint 1 y postergaremos lo Could (stock, encuesta) si hace falta.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4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velocidad, actas de review y retrospectiva por sprint.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B2A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que sometemos a revisión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7A3F8F"/>
          </a:solidFill>
          <a:ln w="12700">
            <a:solidFill>
              <a:srgbClr val="9B64A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560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sprints de 2 semanas, Jira y GitHub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7A3F8F"/>
          </a:solidFill>
          <a:ln w="12700">
            <a:solidFill>
              <a:srgbClr val="9B64A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60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3, objetivo 6 y meta ampliada 7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29000" cy="2103120"/>
          </a:xfrm>
          <a:prstGeom prst="roundRect">
            <a:avLst>
              <a:gd name="adj" fmla="val 5217"/>
            </a:avLst>
          </a:prstGeom>
          <a:solidFill>
            <a:srgbClr val="7A3F8F"/>
          </a:solidFill>
          <a:ln w="12700">
            <a:solidFill>
              <a:srgbClr val="9B64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560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React + Node/Express + REST + PostgreSQL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4CE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la revisión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091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adecuado apuntar a TRL 6 en el plazo del semestre?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arquitectura monolítica web es proporcional a la escala del proyecto?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equilibrar los sprints 1 y 2 sin sacrificar calidad?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Fase 1 — Deva Aesthetic House</dc:title>
  <dc:subject>PptxGenJS Presentation</dc:subject>
  <dc:creator>PptxGenJS</dc:creator>
  <cp:lastModifiedBy>PptxGenJS</cp:lastModifiedBy>
  <cp:revision>1</cp:revision>
  <dcterms:created xsi:type="dcterms:W3CDTF">2026-10-08T01:36:06Z</dcterms:created>
  <dcterms:modified xsi:type="dcterms:W3CDTF">2026-10-08T01:36:06Z</dcterms:modified>
</cp:coreProperties>
</file>