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6" roundtripDataSignature="AMtx7mim53Yje8qXiy7wLqIxS2d0GGDu1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 txBox="1"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2A6F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5B2A6F"/>
                </a:solidFill>
              </a:rPr>
              <a:t>MODELO CANVAS</a:t>
            </a:r>
            <a:endParaRPr i="0" sz="2800" u="none" cap="none" strike="noStrike">
              <a:solidFill>
                <a:schemeClr val="dk1"/>
              </a:solidFill>
            </a:endParaRPr>
          </a:p>
        </p:txBody>
      </p:sp>
      <p:sp>
        <p:nvSpPr>
          <p:cNvPr id="17" name="Google Shape;17;p1"/>
          <p:cNvSpPr txBox="1"/>
          <p:nvPr/>
        </p:nvSpPr>
        <p:spPr>
          <a:xfrm>
            <a:off x="365760" y="65836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4A9E"/>
              </a:buClr>
              <a:buSzPts val="1400"/>
              <a:buFont typeface="Calibri"/>
              <a:buNone/>
            </a:pPr>
            <a:r>
              <a:rPr i="1" lang="en-US" sz="1400" u="none" cap="none" strike="noStrike">
                <a:solidFill>
                  <a:srgbClr val="8E4A9E"/>
                </a:solidFill>
              </a:rPr>
              <a:t>Sistema de Gestión Integral — Deva Aesthetic House</a:t>
            </a:r>
            <a:endParaRPr i="0" sz="1400" u="none" cap="none" strike="noStrike">
              <a:solidFill>
                <a:schemeClr val="dk1"/>
              </a:solidFill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365760" y="1143000"/>
            <a:ext cx="2291486" cy="3977640"/>
          </a:xfrm>
          <a:prstGeom prst="rect">
            <a:avLst/>
          </a:prstGeom>
          <a:solidFill>
            <a:srgbClr val="F1E6F5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 txBox="1"/>
          <p:nvPr/>
        </p:nvSpPr>
        <p:spPr>
          <a:xfrm>
            <a:off x="475488" y="1234440"/>
            <a:ext cx="2072030" cy="3794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5B2A6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5B2A6F"/>
                </a:solidFill>
              </a:rPr>
              <a:t>Socios clave</a:t>
            </a:r>
            <a:endParaRPr i="0" sz="1250" u="none" cap="none" strike="noStrike">
              <a:solidFill>
                <a:schemeClr val="dk1"/>
              </a:solidFill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3A2E40"/>
              </a:buClr>
              <a:buSzPts val="1000"/>
              <a:buChar char="•"/>
            </a:pPr>
            <a:r>
              <a:rPr i="0" lang="en-US" sz="1000" u="none" cap="none" strike="noStrike">
                <a:solidFill>
                  <a:srgbClr val="3A2E40"/>
                </a:solidFill>
              </a:rPr>
              <a:t>Proveedor/equipo de desarrollo del software</a:t>
            </a:r>
            <a:endParaRPr i="0" sz="1250" u="none" cap="none" strike="noStrike">
              <a:solidFill>
                <a:schemeClr val="dk1"/>
              </a:solidFill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3A2E40"/>
              </a:buClr>
              <a:buSzPts val="1000"/>
              <a:buChar char="•"/>
            </a:pPr>
            <a:r>
              <a:rPr i="0" lang="en-US" sz="1000" u="none" cap="none" strike="noStrike">
                <a:solidFill>
                  <a:srgbClr val="3A2E40"/>
                </a:solidFill>
              </a:rPr>
              <a:t>Proveedores de infraestructura (hosting, servidores)</a:t>
            </a:r>
            <a:endParaRPr i="0" sz="1250" u="none" cap="none" strike="noStrike">
              <a:solidFill>
                <a:schemeClr val="dk1"/>
              </a:solidFill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3A2E40"/>
              </a:buClr>
              <a:buSzPts val="1000"/>
              <a:buChar char="•"/>
            </a:pPr>
            <a:r>
              <a:rPr i="0" lang="en-US" sz="1000" u="none" cap="none" strike="noStrike">
                <a:solidFill>
                  <a:srgbClr val="3A2E40"/>
                </a:solidFill>
              </a:rPr>
              <a:t>Proveedores de equipamiento clínico del centro</a:t>
            </a:r>
            <a:endParaRPr i="0" sz="1250" u="none" cap="none" strike="noStrike">
              <a:solidFill>
                <a:schemeClr val="dk1"/>
              </a:solidFill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2657246" y="1143000"/>
            <a:ext cx="2291486" cy="1943100"/>
          </a:xfrm>
          <a:prstGeom prst="rect">
            <a:avLst/>
          </a:prstGeom>
          <a:solidFill>
            <a:srgbClr val="F1E6F5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 txBox="1"/>
          <p:nvPr/>
        </p:nvSpPr>
        <p:spPr>
          <a:xfrm>
            <a:off x="2766974" y="1234440"/>
            <a:ext cx="2072030" cy="1760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5B2A6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5B2A6F"/>
                </a:solidFill>
              </a:rPr>
              <a:t>Actividades clave</a:t>
            </a:r>
            <a:endParaRPr i="0" sz="1250" u="none" cap="none" strike="noStrike">
              <a:solidFill>
                <a:schemeClr val="dk1"/>
              </a:solidFill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3A2E40"/>
              </a:buClr>
              <a:buSzPts val="1000"/>
              <a:buChar char="•"/>
            </a:pPr>
            <a:r>
              <a:rPr i="0" lang="en-US" sz="1000" u="none" cap="none" strike="noStrike">
                <a:solidFill>
                  <a:srgbClr val="3A2E40"/>
                </a:solidFill>
              </a:rPr>
              <a:t>Agendamiento de horas y recursos</a:t>
            </a:r>
            <a:endParaRPr i="0" sz="1250" u="none" cap="none" strike="noStrike">
              <a:solidFill>
                <a:schemeClr val="dk1"/>
              </a:solidFill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3A2E40"/>
              </a:buClr>
              <a:buSzPts val="1000"/>
              <a:buChar char="•"/>
            </a:pPr>
            <a:r>
              <a:rPr i="0" lang="en-US" sz="1000" u="none" cap="none" strike="noStrike">
                <a:solidFill>
                  <a:srgbClr val="3A2E40"/>
                </a:solidFill>
              </a:rPr>
              <a:t>Registro y seguimiento de fichas clínicas</a:t>
            </a:r>
            <a:endParaRPr i="0" sz="1250" u="none" cap="none" strike="noStrike">
              <a:solidFill>
                <a:schemeClr val="dk1"/>
              </a:solidFill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3A2E40"/>
              </a:buClr>
              <a:buSzPts val="1000"/>
              <a:buChar char="•"/>
            </a:pPr>
            <a:r>
              <a:rPr i="0" lang="en-US" sz="1000" u="none" cap="none" strike="noStrike">
                <a:solidFill>
                  <a:srgbClr val="3A2E40"/>
                </a:solidFill>
              </a:rPr>
              <a:t>Gestión comercial y de comisiones</a:t>
            </a:r>
            <a:endParaRPr i="0" sz="1250" u="none" cap="none" strike="noStrike">
              <a:solidFill>
                <a:schemeClr val="dk1"/>
              </a:solidFill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3A2E40"/>
              </a:buClr>
              <a:buSzPts val="1000"/>
              <a:buChar char="•"/>
            </a:pPr>
            <a:r>
              <a:rPr i="0" lang="en-US" sz="1000" u="none" cap="none" strike="noStrike">
                <a:solidFill>
                  <a:srgbClr val="3A2E40"/>
                </a:solidFill>
              </a:rPr>
              <a:t>Seguimiento y fidelización de pacientes (CRM)</a:t>
            </a:r>
            <a:endParaRPr i="0" sz="1250" u="none" cap="none" strike="noStrike">
              <a:solidFill>
                <a:schemeClr val="dk1"/>
              </a:solidFill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2657246" y="3177540"/>
            <a:ext cx="2291486" cy="1943100"/>
          </a:xfrm>
          <a:prstGeom prst="rect">
            <a:avLst/>
          </a:prstGeom>
          <a:solidFill>
            <a:srgbClr val="F1E6F5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 txBox="1"/>
          <p:nvPr/>
        </p:nvSpPr>
        <p:spPr>
          <a:xfrm>
            <a:off x="2766974" y="3268980"/>
            <a:ext cx="2072030" cy="1760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5B2A6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5B2A6F"/>
                </a:solidFill>
              </a:rPr>
              <a:t>Recursos clave</a:t>
            </a:r>
            <a:endParaRPr i="0" sz="1250" u="none" cap="none" strike="noStrike">
              <a:solidFill>
                <a:schemeClr val="dk1"/>
              </a:solidFill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3A2E40"/>
              </a:buClr>
              <a:buSzPts val="1000"/>
              <a:buChar char="•"/>
            </a:pPr>
            <a:r>
              <a:rPr i="0" lang="en-US" sz="1000" u="none" cap="none" strike="noStrike">
                <a:solidFill>
                  <a:srgbClr val="3A2E40"/>
                </a:solidFill>
              </a:rPr>
              <a:t>Personal profesional y administrativo de Deva</a:t>
            </a:r>
            <a:endParaRPr i="0" sz="1250" u="none" cap="none" strike="noStrike">
              <a:solidFill>
                <a:schemeClr val="dk1"/>
              </a:solidFill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3A2E40"/>
              </a:buClr>
              <a:buSzPts val="1000"/>
              <a:buChar char="•"/>
            </a:pPr>
            <a:r>
              <a:rPr i="0" lang="en-US" sz="1000" u="none" cap="none" strike="noStrike">
                <a:solidFill>
                  <a:srgbClr val="3A2E40"/>
                </a:solidFill>
              </a:rPr>
              <a:t>Infraestructura tecnológica (servidores, sistema)</a:t>
            </a:r>
            <a:endParaRPr i="0" sz="1250" u="none" cap="none" strike="noStrike">
              <a:solidFill>
                <a:schemeClr val="dk1"/>
              </a:solidFill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3A2E40"/>
              </a:buClr>
              <a:buSzPts val="1000"/>
              <a:buChar char="•"/>
            </a:pPr>
            <a:r>
              <a:rPr i="0" lang="en-US" sz="1000" u="none" cap="none" strike="noStrike">
                <a:solidFill>
                  <a:srgbClr val="3A2E40"/>
                </a:solidFill>
              </a:rPr>
              <a:t>Equipos clínicos y box de atención</a:t>
            </a:r>
            <a:endParaRPr i="0" sz="1250" u="none" cap="none" strike="noStrike">
              <a:solidFill>
                <a:schemeClr val="dk1"/>
              </a:solidFill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3A2E40"/>
              </a:buClr>
              <a:buSzPts val="1000"/>
              <a:buChar char="•"/>
            </a:pPr>
            <a:r>
              <a:rPr i="0" lang="en-US" sz="1000" u="none" cap="none" strike="noStrike">
                <a:solidFill>
                  <a:srgbClr val="3A2E40"/>
                </a:solidFill>
              </a:rPr>
              <a:t>Información/datos de pacientes y ventas</a:t>
            </a:r>
            <a:endParaRPr i="0" sz="1250" u="none" cap="none" strike="noStrike">
              <a:solidFill>
                <a:schemeClr val="dk1"/>
              </a:solidFill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4948733" y="1143000"/>
            <a:ext cx="2291486" cy="3977640"/>
          </a:xfrm>
          <a:prstGeom prst="rect">
            <a:avLst/>
          </a:prstGeom>
          <a:solidFill>
            <a:srgbClr val="E4CEE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 txBox="1"/>
          <p:nvPr/>
        </p:nvSpPr>
        <p:spPr>
          <a:xfrm>
            <a:off x="5058461" y="1234440"/>
            <a:ext cx="2072030" cy="3794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5B2A6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5B2A6F"/>
                </a:solidFill>
              </a:rPr>
              <a:t>Propuesta de valor</a:t>
            </a:r>
            <a:endParaRPr i="0" sz="1250" u="none" cap="none" strike="noStrike">
              <a:solidFill>
                <a:schemeClr val="dk1"/>
              </a:solidFill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3A2E40"/>
              </a:buClr>
              <a:buSzPts val="1000"/>
              <a:buChar char="•"/>
            </a:pPr>
            <a:r>
              <a:rPr i="0" lang="en-US" sz="1000" u="none" cap="none" strike="noStrike">
                <a:solidFill>
                  <a:srgbClr val="3A2E40"/>
                </a:solidFill>
              </a:rPr>
              <a:t>Sistema único que integra agenda, ficha clínica, CRM y ventas</a:t>
            </a:r>
            <a:endParaRPr i="0" sz="1250" u="none" cap="none" strike="noStrike">
              <a:solidFill>
                <a:schemeClr val="dk1"/>
              </a:solidFill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3A2E40"/>
              </a:buClr>
              <a:buSzPts val="1000"/>
              <a:buChar char="•"/>
            </a:pPr>
            <a:r>
              <a:rPr i="0" lang="en-US" sz="1000" u="none" cap="none" strike="noStrike">
                <a:solidFill>
                  <a:srgbClr val="3A2E40"/>
                </a:solidFill>
              </a:rPr>
              <a:t>Reducción del trabajo administrativo y de errores</a:t>
            </a:r>
            <a:endParaRPr i="0" sz="1250" u="none" cap="none" strike="noStrike">
              <a:solidFill>
                <a:schemeClr val="dk1"/>
              </a:solidFill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3A2E40"/>
              </a:buClr>
              <a:buSzPts val="1000"/>
              <a:buChar char="•"/>
            </a:pPr>
            <a:r>
              <a:rPr i="0" lang="en-US" sz="1000" u="none" cap="none" strike="noStrike">
                <a:solidFill>
                  <a:srgbClr val="3A2E40"/>
                </a:solidFill>
              </a:rPr>
              <a:t>Mejor seguimiento y fidelización de pacientes</a:t>
            </a:r>
            <a:endParaRPr i="0" sz="1250" u="none" cap="none" strike="noStrike">
              <a:solidFill>
                <a:schemeClr val="dk1"/>
              </a:solidFill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3A2E40"/>
              </a:buClr>
              <a:buSzPts val="1000"/>
              <a:buChar char="•"/>
            </a:pPr>
            <a:r>
              <a:rPr i="0" lang="en-US" sz="1000" u="none" cap="none" strike="noStrike">
                <a:solidFill>
                  <a:srgbClr val="3A2E40"/>
                </a:solidFill>
              </a:rPr>
              <a:t>Cálculo automático y transparente de comisiones</a:t>
            </a:r>
            <a:endParaRPr i="0" sz="1250" u="none" cap="none" strike="noStrike">
              <a:solidFill>
                <a:schemeClr val="dk1"/>
              </a:solidFill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3A2E40"/>
              </a:buClr>
              <a:buSzPts val="1000"/>
              <a:buChar char="•"/>
            </a:pPr>
            <a:r>
              <a:rPr i="0" lang="en-US" sz="1000" u="none" cap="none" strike="noStrike">
                <a:solidFill>
                  <a:srgbClr val="3A2E40"/>
                </a:solidFill>
              </a:rPr>
              <a:t>Visión completa del negocio en un panel de gestión</a:t>
            </a:r>
            <a:endParaRPr i="0" sz="1250" u="none" cap="none" strike="noStrike">
              <a:solidFill>
                <a:schemeClr val="dk1"/>
              </a:solidFill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7240219" y="1143000"/>
            <a:ext cx="2291486" cy="1943100"/>
          </a:xfrm>
          <a:prstGeom prst="rect">
            <a:avLst/>
          </a:prstGeom>
          <a:solidFill>
            <a:srgbClr val="F1E6F5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"/>
          <p:cNvSpPr txBox="1"/>
          <p:nvPr/>
        </p:nvSpPr>
        <p:spPr>
          <a:xfrm>
            <a:off x="7349947" y="1234440"/>
            <a:ext cx="2072030" cy="1760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5B2A6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5B2A6F"/>
                </a:solidFill>
              </a:rPr>
              <a:t>Relación con clientes</a:t>
            </a:r>
            <a:endParaRPr i="0" sz="1250" u="none" cap="none" strike="noStrike">
              <a:solidFill>
                <a:schemeClr val="dk1"/>
              </a:solidFill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3A2E40"/>
              </a:buClr>
              <a:buSzPts val="1000"/>
              <a:buChar char="•"/>
            </a:pPr>
            <a:r>
              <a:rPr i="0" lang="en-US" sz="1000" u="none" cap="none" strike="noStrike">
                <a:solidFill>
                  <a:srgbClr val="3A2E40"/>
                </a:solidFill>
              </a:rPr>
              <a:t>Atención profesional, personalizada y cercana</a:t>
            </a:r>
            <a:endParaRPr i="0" sz="1250" u="none" cap="none" strike="noStrike">
              <a:solidFill>
                <a:schemeClr val="dk1"/>
              </a:solidFill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3A2E40"/>
              </a:buClr>
              <a:buSzPts val="1000"/>
              <a:buChar char="•"/>
            </a:pPr>
            <a:r>
              <a:rPr i="0" lang="en-US" sz="1000" u="none" cap="none" strike="noStrike">
                <a:solidFill>
                  <a:srgbClr val="3A2E40"/>
                </a:solidFill>
              </a:rPr>
              <a:t>Acompañamiento durante todo el proceso del paciente</a:t>
            </a:r>
            <a:endParaRPr i="0" sz="1250" u="none" cap="none" strike="noStrike">
              <a:solidFill>
                <a:schemeClr val="dk1"/>
              </a:solidFill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3A2E40"/>
              </a:buClr>
              <a:buSzPts val="1000"/>
              <a:buChar char="•"/>
            </a:pPr>
            <a:r>
              <a:rPr i="0" lang="en-US" sz="1000" u="none" cap="none" strike="noStrike">
                <a:solidFill>
                  <a:srgbClr val="3A2E40"/>
                </a:solidFill>
              </a:rPr>
              <a:t>Recordatorios y seguimiento de tratamientos</a:t>
            </a:r>
            <a:endParaRPr i="0" sz="1250" u="none" cap="none" strike="noStrike">
              <a:solidFill>
                <a:schemeClr val="dk1"/>
              </a:solidFill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7240219" y="3177540"/>
            <a:ext cx="2291486" cy="1943100"/>
          </a:xfrm>
          <a:prstGeom prst="rect">
            <a:avLst/>
          </a:prstGeom>
          <a:solidFill>
            <a:srgbClr val="F1E6F5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1"/>
          <p:cNvSpPr txBox="1"/>
          <p:nvPr/>
        </p:nvSpPr>
        <p:spPr>
          <a:xfrm>
            <a:off x="7349947" y="3268980"/>
            <a:ext cx="2072030" cy="1760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5B2A6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5B2A6F"/>
                </a:solidFill>
              </a:rPr>
              <a:t>Canales</a:t>
            </a:r>
            <a:endParaRPr i="0" sz="1250" u="none" cap="none" strike="noStrike">
              <a:solidFill>
                <a:schemeClr val="dk1"/>
              </a:solidFill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3A2E40"/>
              </a:buClr>
              <a:buSzPts val="1000"/>
              <a:buChar char="•"/>
            </a:pPr>
            <a:r>
              <a:rPr i="0" lang="en-US" sz="1000" u="none" cap="none" strike="noStrike">
                <a:solidFill>
                  <a:srgbClr val="3A2E40"/>
                </a:solidFill>
              </a:rPr>
              <a:t>Atención presencial en el centro (Buin)</a:t>
            </a:r>
            <a:endParaRPr i="0" sz="1250" u="none" cap="none" strike="noStrike">
              <a:solidFill>
                <a:schemeClr val="dk1"/>
              </a:solidFill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3A2E40"/>
              </a:buClr>
              <a:buSzPts val="1000"/>
              <a:buChar char="•"/>
            </a:pPr>
            <a:r>
              <a:rPr i="0" lang="en-US" sz="1000" u="none" cap="none" strike="noStrike">
                <a:solidFill>
                  <a:srgbClr val="3A2E40"/>
                </a:solidFill>
              </a:rPr>
              <a:t>Sistema de agendamiento propio</a:t>
            </a:r>
            <a:endParaRPr i="0" sz="1250" u="none" cap="none" strike="noStrike">
              <a:solidFill>
                <a:schemeClr val="dk1"/>
              </a:solidFill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3A2E40"/>
              </a:buClr>
              <a:buSzPts val="1000"/>
              <a:buChar char="•"/>
            </a:pPr>
            <a:r>
              <a:rPr i="0" lang="en-US" sz="1000" u="none" cap="none" strike="noStrike">
                <a:solidFill>
                  <a:srgbClr val="3A2E40"/>
                </a:solidFill>
              </a:rPr>
              <a:t>Comunicación directa con pacientes (confirmaciones, recordatorios)</a:t>
            </a:r>
            <a:endParaRPr i="0" sz="1250" u="none" cap="none" strike="noStrike">
              <a:solidFill>
                <a:schemeClr val="dk1"/>
              </a:solidFill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9531706" y="1143000"/>
            <a:ext cx="2291486" cy="3977640"/>
          </a:xfrm>
          <a:prstGeom prst="rect">
            <a:avLst/>
          </a:prstGeom>
          <a:solidFill>
            <a:srgbClr val="F1E6F5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1"/>
          <p:cNvSpPr txBox="1"/>
          <p:nvPr/>
        </p:nvSpPr>
        <p:spPr>
          <a:xfrm>
            <a:off x="9641434" y="1234440"/>
            <a:ext cx="2072030" cy="3794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5B2A6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5B2A6F"/>
                </a:solidFill>
              </a:rPr>
              <a:t>Segmentos de clientes</a:t>
            </a:r>
            <a:endParaRPr i="0" sz="1250" u="none" cap="none" strike="noStrike">
              <a:solidFill>
                <a:schemeClr val="dk1"/>
              </a:solidFill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3A2E40"/>
              </a:buClr>
              <a:buSzPts val="1000"/>
              <a:buChar char="•"/>
            </a:pPr>
            <a:r>
              <a:rPr i="0" lang="en-US" sz="1000" u="none" cap="none" strike="noStrike">
                <a:solidFill>
                  <a:srgbClr val="3A2E40"/>
                </a:solidFill>
              </a:rPr>
              <a:t>Pacientes del centro (medicina estética y kinesiología dermatofuncional)</a:t>
            </a:r>
            <a:endParaRPr i="0" sz="1250" u="none" cap="none" strike="noStrike">
              <a:solidFill>
                <a:schemeClr val="dk1"/>
              </a:solidFill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3A2E40"/>
              </a:buClr>
              <a:buSzPts val="1000"/>
              <a:buChar char="•"/>
            </a:pPr>
            <a:r>
              <a:rPr i="0" lang="en-US" sz="1000" u="none" cap="none" strike="noStrike">
                <a:solidFill>
                  <a:srgbClr val="3A2E40"/>
                </a:solidFill>
              </a:rPr>
              <a:t>Equipo interno: profesionales y colaboradores de Deva</a:t>
            </a:r>
            <a:endParaRPr i="0" sz="1250" u="none" cap="none" strike="noStrike">
              <a:solidFill>
                <a:schemeClr val="dk1"/>
              </a:solidFill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365760" y="5257800"/>
            <a:ext cx="5682996" cy="1234440"/>
          </a:xfrm>
          <a:prstGeom prst="rect">
            <a:avLst/>
          </a:prstGeom>
          <a:solidFill>
            <a:srgbClr val="E4CEE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1"/>
          <p:cNvSpPr txBox="1"/>
          <p:nvPr/>
        </p:nvSpPr>
        <p:spPr>
          <a:xfrm>
            <a:off x="475488" y="5349240"/>
            <a:ext cx="54635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5B2A6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5B2A6F"/>
                </a:solidFill>
              </a:rPr>
              <a:t>Estructura de costos</a:t>
            </a:r>
            <a:endParaRPr i="0" sz="1250" u="none" cap="none" strike="noStrike">
              <a:solidFill>
                <a:schemeClr val="dk1"/>
              </a:solidFill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3A2E40"/>
              </a:buClr>
              <a:buSzPts val="1000"/>
              <a:buChar char="•"/>
            </a:pPr>
            <a:r>
              <a:rPr i="0" lang="en-US" sz="1000" u="none" cap="none" strike="noStrike">
                <a:solidFill>
                  <a:srgbClr val="3A2E40"/>
                </a:solidFill>
              </a:rPr>
              <a:t>Desarrollo e implementación del sistema</a:t>
            </a:r>
            <a:endParaRPr i="0" sz="1250" u="none" cap="none" strike="noStrike">
              <a:solidFill>
                <a:schemeClr val="dk1"/>
              </a:solidFill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3A2E40"/>
              </a:buClr>
              <a:buSzPts val="1000"/>
              <a:buChar char="•"/>
            </a:pPr>
            <a:r>
              <a:rPr i="0" lang="en-US" sz="1000" u="none" cap="none" strike="noStrike">
                <a:solidFill>
                  <a:srgbClr val="3A2E40"/>
                </a:solidFill>
              </a:rPr>
              <a:t>Mantención y soporte tecnológico</a:t>
            </a:r>
            <a:endParaRPr i="0" sz="1250" u="none" cap="none" strike="noStrike">
              <a:solidFill>
                <a:schemeClr val="dk1"/>
              </a:solidFill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3A2E40"/>
              </a:buClr>
              <a:buSzPts val="1000"/>
              <a:buChar char="•"/>
            </a:pPr>
            <a:r>
              <a:rPr i="0" lang="en-US" sz="1000" u="none" cap="none" strike="noStrike">
                <a:solidFill>
                  <a:srgbClr val="3A2E40"/>
                </a:solidFill>
              </a:rPr>
              <a:t>Personal, box y equipos clínicos</a:t>
            </a:r>
            <a:endParaRPr i="0" sz="1250" u="none" cap="none" strike="noStrike">
              <a:solidFill>
                <a:schemeClr val="dk1"/>
              </a:solidFill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6140196" y="5257800"/>
            <a:ext cx="5682996" cy="1234440"/>
          </a:xfrm>
          <a:prstGeom prst="rect">
            <a:avLst/>
          </a:prstGeom>
          <a:solidFill>
            <a:srgbClr val="E4CEE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1"/>
          <p:cNvSpPr txBox="1"/>
          <p:nvPr/>
        </p:nvSpPr>
        <p:spPr>
          <a:xfrm>
            <a:off x="6249924" y="5349240"/>
            <a:ext cx="54635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5B2A6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5B2A6F"/>
                </a:solidFill>
              </a:rPr>
              <a:t>Fuentes de ingresos</a:t>
            </a:r>
            <a:endParaRPr i="0" sz="1250" u="none" cap="none" strike="noStrike">
              <a:solidFill>
                <a:schemeClr val="dk1"/>
              </a:solidFill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3A2E40"/>
              </a:buClr>
              <a:buSzPts val="1000"/>
              <a:buChar char="•"/>
            </a:pPr>
            <a:r>
              <a:rPr i="0" lang="en-US" sz="1000" u="none" cap="none" strike="noStrike">
                <a:solidFill>
                  <a:srgbClr val="3A2E40"/>
                </a:solidFill>
              </a:rPr>
              <a:t>Venta de tratamientos y servicios de medicina estética y kinesiología dermatofuncional</a:t>
            </a:r>
            <a:endParaRPr i="0" sz="1250" u="none" cap="none" strike="noStrike">
              <a:solidFill>
                <a:schemeClr val="dk1"/>
              </a:solidFill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3A2E40"/>
              </a:buClr>
              <a:buSzPts val="1000"/>
              <a:buChar char="•"/>
            </a:pPr>
            <a:r>
              <a:rPr i="0" lang="en-US" sz="1000" u="none" cap="none" strike="noStrike">
                <a:solidFill>
                  <a:srgbClr val="3A2E40"/>
                </a:solidFill>
              </a:rPr>
              <a:t>Comisiones a colaboradores según política de contratación (costo variable ligado a ventas)</a:t>
            </a:r>
            <a:endParaRPr i="0" sz="125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2026-09-10T23:27:51Z</dcterms:created>
  <dc:creator>PptxGenJS</dc:creator>
</cp:coreProperties>
</file>